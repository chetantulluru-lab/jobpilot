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2011680" cy="411480"/>
          </a:xfrm>
          <a:prstGeom prst="roundRect">
            <a:avLst/>
          </a:prstGeom>
          <a:solidFill>
            <a:srgbClr val="FFF5E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A00"/>
                </a:solidFill>
                <a:latin typeface="Segoe UI"/>
              </a:defRPr>
            </a:pPr>
            <a:r>
              <a:t>✦ AI CAREER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6A00"/>
                </a:solidFill>
                <a:latin typeface="Segoe UI"/>
              </a:defRPr>
            </a:pPr>
            <a:r>
              <a:t>JobPilot</a:t>
            </a:r>
          </a:p>
          <a:p>
            <a:pPr>
              <a:spcBef>
                <a:spcPts val="8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AI-Powered Career Navigation, ATS Optimization &amp; Mock Interview Platform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Unified 1:1 Architecture: Native Android APK (Kotlin / Compose) &amp; Windows Desktop (Edge WebView2) • Live PostgreSQL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29768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📱 Android Mobile App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Jetpack Compose + ML Kit Face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29768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💻 Windows Desktop App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Standalone .exe + Edge WebView2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29768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Live Production Backend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FastAPI + PostgreSQL + Brevo OTP on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1. Project Objective &amp; Problem Statement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Solving modern technical hiring friction through automation, real-time feedback, and dynamic curriculum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B91C1C"/>
                </a:solidFill>
                <a:latin typeface="Segoe UI"/>
              </a:defRPr>
            </a:pPr>
            <a:r>
              <a:t>⚠️ The Modern Candidate Challenges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Black-Box ATS Screening: </a:t>
            </a:r>
            <a:r>
              <a:rPr b="0">
                <a:solidFill>
                  <a:srgbClr val="334155"/>
                </a:solidFill>
              </a:rPr>
              <a:t>Over 75% of resumes are discarded by Applicant Tracking Systems due to formatting errors and semantic skill mismatches.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No Realistic Interview Simulator: </a:t>
            </a:r>
            <a:r>
              <a:rPr b="0">
                <a:solidFill>
                  <a:srgbClr val="334155"/>
                </a:solidFill>
              </a:rPr>
              <a:t>Candidates lack structured practice with real-time video eye-contact telemetry, voice dialogue, and STAR methodology grading.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Fragmented Learning Paths: </a:t>
            </a:r>
            <a:r>
              <a:rPr b="0">
                <a:solidFill>
                  <a:srgbClr val="334155"/>
                </a:solidFill>
              </a:rPr>
              <a:t>Generic online courses lack day-by-day accountability, quizzes, and automated synchronization with real hiring requirements.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Cold Outreach Inefficiency: </a:t>
            </a:r>
            <a:r>
              <a:rPr b="0">
                <a:solidFill>
                  <a:srgbClr val="334155"/>
                </a:solidFill>
              </a:rPr>
              <a:t>Job seekers struggle to write personalized, high-converting recruiter messages and cover letters tailored to job descriptions.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5EC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D95500"/>
                </a:solidFill>
                <a:latin typeface="Segoe UI"/>
              </a:defRPr>
            </a:pPr>
            <a:r>
              <a:t>🚀 The JobPilot AI Solution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AI Mock Interview Simulator: </a:t>
            </a:r>
            <a:r>
              <a:rPr b="0">
                <a:solidFill>
                  <a:srgbClr val="0F172A"/>
                </a:solidFill>
              </a:rPr>
              <a:t>5-stage structured technical interview room with on-device face presence tracking, audio synthesis, voice dictation, and 4-D report.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Automated ATS Resume Tailor: </a:t>
            </a:r>
            <a:r>
              <a:rPr b="0">
                <a:solidFill>
                  <a:srgbClr val="0F172A"/>
                </a:solidFill>
              </a:rPr>
              <a:t>NLP extraction of candidate resumes (PDF/DOCX), audit of missing fields, and instant 1-click tailoring against any job title.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Personalized 6-Month Roadmaps: </a:t>
            </a:r>
            <a:r>
              <a:rPr b="0">
                <a:solidFill>
                  <a:srgbClr val="0F172A"/>
                </a:solidFill>
              </a:rPr>
              <a:t>Custom curriculum generated for any tech role with day-by-day learning topics, daily quizzes, and code notes.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Semantic Vector Job Match &amp; Gap Analysis: </a:t>
            </a:r>
            <a:r>
              <a:rPr b="0">
                <a:solidFill>
                  <a:srgbClr val="0F172A"/>
                </a:solidFill>
              </a:rPr>
              <a:t>Calculates exact match percentage, missing required skills, and generates customized cold outreach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2. System Architecture &amp; Cross-Platform Tech Stack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Single production backend powering 1:1 parity between Android APK and Windows Desktop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FF6A00"/>
                </a:solidFill>
                <a:latin typeface="Segoe UI"/>
              </a:defRPr>
            </a:pPr>
            <a:r>
              <a:t>📱 Android Mobile Client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Language / UI: </a:t>
            </a:r>
            <a:r>
              <a:rPr b="0">
                <a:solidFill>
                  <a:srgbClr val="334155"/>
                </a:solidFill>
              </a:rPr>
              <a:t>Kotlin 2.0 • Jetpack Compose • Material 3 Design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ML &amp; Vision: </a:t>
            </a:r>
            <a:r>
              <a:rPr b="0">
                <a:solidFill>
                  <a:srgbClr val="334155"/>
                </a:solidFill>
              </a:rPr>
              <a:t>Google ML Kit Face Detection • CameraX Live Stream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Voice &amp; Audio: </a:t>
            </a:r>
            <a:r>
              <a:rPr b="0">
                <a:solidFill>
                  <a:srgbClr val="334155"/>
                </a:solidFill>
              </a:rPr>
              <a:t>Android SpeechRecognizer • TextToSpeech (TTS) Engine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Networking &amp; State: </a:t>
            </a:r>
            <a:r>
              <a:rPr b="0">
                <a:solidFill>
                  <a:srgbClr val="334155"/>
                </a:solidFill>
              </a:rPr>
              <a:t>Retrofit 2 • OkHttp • Kotlin Coroutines &amp; StateFlow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Packaging: </a:t>
            </a:r>
            <a:r>
              <a:rPr b="0">
                <a:solidFill>
                  <a:srgbClr val="334155"/>
                </a:solidFill>
              </a:rPr>
              <a:t>Android APK (`com.jobpilot.app`) Release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💻 Windows Desktop Client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Runtime / Window: </a:t>
            </a:r>
            <a:r>
              <a:rPr b="0">
                <a:solidFill>
                  <a:srgbClr val="334155"/>
                </a:solidFill>
              </a:rPr>
              <a:t>Microsoft Edge Chromium WebView2 Native Window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Embedded Host: </a:t>
            </a:r>
            <a:r>
              <a:rPr b="0">
                <a:solidFill>
                  <a:srgbClr val="334155"/>
                </a:solidFill>
              </a:rPr>
              <a:t>Python 3.13 Local SPA &amp; Reverse Proxy Server (`main.py`)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Frontend UI: </a:t>
            </a:r>
            <a:r>
              <a:rPr b="0">
                <a:solidFill>
                  <a:srgbClr val="334155"/>
                </a:solidFill>
              </a:rPr>
              <a:t>React 19 • Vite • Lucide Icons • Canvas Vision Telemetry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Audio &amp; Voice: </a:t>
            </a:r>
            <a:r>
              <a:rPr b="0">
                <a:solidFill>
                  <a:srgbClr val="334155"/>
                </a:solidFill>
              </a:rPr>
              <a:t>Web Speech API (SpeechRecognition) • SpeechSynthesis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Distribution: </a:t>
            </a:r>
            <a:r>
              <a:rPr b="0">
                <a:solidFill>
                  <a:srgbClr val="334155"/>
                </a:solidFill>
              </a:rPr>
              <a:t>PyInstaller Standalone Executable + Inno Setup 6 Installer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⚡ Production Cloud Backend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Framework: </a:t>
            </a:r>
            <a:r>
              <a:rPr b="0">
                <a:solidFill>
                  <a:srgbClr val="334155"/>
                </a:solidFill>
              </a:rPr>
              <a:t>FastAPI (AsyncIO Python 3.13) • High-throughput REST API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Database: </a:t>
            </a:r>
            <a:r>
              <a:rPr b="0">
                <a:solidFill>
                  <a:srgbClr val="334155"/>
                </a:solidFill>
              </a:rPr>
              <a:t>PostgreSQL running on Render Cloud (Single Source of Truth)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ORM &amp; Schemas: </a:t>
            </a:r>
            <a:r>
              <a:rPr b="0">
                <a:solidFill>
                  <a:srgbClr val="334155"/>
                </a:solidFill>
              </a:rPr>
              <a:t>SQLAlchemy 2.0 • Pydantic V2 Validation Models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Security &amp; Auth: </a:t>
            </a:r>
            <a:r>
              <a:rPr b="0">
                <a:solidFill>
                  <a:srgbClr val="334155"/>
                </a:solidFill>
              </a:rPr>
              <a:t>JWT Bearer Tokens • Passlib Bcrypt Hashing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Email Delivery: </a:t>
            </a:r>
            <a:r>
              <a:rPr b="0">
                <a:solidFill>
                  <a:srgbClr val="334155"/>
                </a:solidFill>
              </a:rPr>
              <a:t>Brevo SMTP Transactional Email API for 6-digit OTP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3. Core Features &amp; Capabilities Matrix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Comprehensive breakdown of the 6 integrated career acceleration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🎙️ AI Mock Interview Simulator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5-stage structured interview room with on-device camera face presence detection, question audio playback, voice dictation, and instant 4-D scorecard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🗺️ 6-Month Dynamic Roadmaps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Customized day-by-day learning milestones with interactive daily quizzes, bookmarking, code notes, and automatic resume skill synchronization.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📄 ATS Resume Builder &amp; Tailor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NLP extraction of candidate resumes (PDF/DOCX), automated missing fields audit, ATS score calculation, and 1-click semantic tailoring to job descriptions.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546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💼 Semantic Job Match &amp; Outreach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Calculates exact semantic compatibility %, analyzes skill gaps, and generates tailored LinkedIn outreach messages &amp; cold emails.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📊 Application Kanban Tracker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Full lifecycle pipeline tracker organizing applications into Saved, Applied, Interviewing, Offered, and Rejected stages with date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7548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FF6A00"/>
                </a:solidFill>
                <a:latin typeface="Segoe UI"/>
              </a:defRPr>
            </a:pPr>
            <a:r>
              <a:t>🤖 24/7 AI Career Coach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Conversational AI assistant with full persistent chat history, answering questions regarding career transitions, salary negotiation, and system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4. NLP &amp; Artificial Intelligence Models: Where &amp; How Used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Detailed mapping of Machine Learning, Natural Language Processing, and Computer Vision models in JobPilot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Transformer Vector Embeddings (BERT / RoBERTa)  •  </a:t>
            </a:r>
            <a:r>
              <a:rPr b="1">
                <a:solidFill>
                  <a:srgbClr val="FF6A00"/>
                </a:solidFill>
              </a:rPr>
              <a:t>Purpose: Semantic Job Matching &amp; Resume Relevance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Generates high-dimensional dense vector embeddings of job descriptions and candidate profile skills. Computes cosine similarity to generate accurate Match Percentage and identify missing required technical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Document Information Extraction (Spacy NLP &amp; PDF Engine)  •  </a:t>
            </a:r>
            <a:r>
              <a:rPr b="1">
                <a:solidFill>
                  <a:srgbClr val="FF6A00"/>
                </a:solidFill>
              </a:rPr>
              <a:t>Purpose: Resume Parsing &amp; ATS Scoring Pipeline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Extracts entities (Work Experience, Education, Skills, Certifications) from uploaded PDF and DOCX files. Performs keyword density analysis and structural formatting checks to calculate ATS compatibility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Generative Language Model (LLM Inference)  •  </a:t>
            </a:r>
            <a:r>
              <a:rPr b="1">
                <a:solidFill>
                  <a:srgbClr val="FF6A00"/>
                </a:solidFill>
              </a:rPr>
              <a:t>Purpose: Career Coach, Roadmap Synthesis &amp; Interview Feedback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Generates customized 6-month day-by-day learning curricula, multi-turn conversational coaching responses, dynamic interview questions tailored to candidates' projects, and detailed evaluator feedback with ideal model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4. Computer Vision Face Detection (Google ML Kit &amp; Canvas Telemetry)  •  </a:t>
            </a:r>
            <a:r>
              <a:rPr b="1">
                <a:solidFill>
                  <a:srgbClr val="0284C7"/>
                </a:solidFill>
              </a:rPr>
              <a:t>Purpose: Live Interview Face Alignment &amp; Presence Score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Executes real-time face detection at 30 FPS. Analyzes face orientation, bounding box centering, eye-contact estimation, and posture attentiveness to produce an objective Video Presence Score (0-100%).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Voice Transcription &amp; Speech Synthesis (ASR &amp; TTS Engine)  •  </a:t>
            </a:r>
            <a:r>
              <a:rPr b="1">
                <a:solidFill>
                  <a:srgbClr val="0284C7"/>
                </a:solidFill>
              </a:rPr>
              <a:t>Purpose: Voice-Driven Hands-Free Mock Interview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Web Speech API and Android SpeechRecognizer convert spoken candidate audio into text transcriptions in real time. SpeechSynthesis generates natural spoken audio for the AI interviewer.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5. Android APK Application Showcase (Mobile Screens)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Jetpack Compose Material 3 UI with Live ML Kit Camera, Roadmap Quizzes, and ATS Resume Hub</a:t>
            </a:r>
          </a:p>
        </p:txBody>
      </p:sp>
      <p:pic>
        <p:nvPicPr>
          <p:cNvPr id="4" name="Picture 3" descr="media_1789363134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2514600" cy="5734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72200"/>
            <a:ext cx="2514600" cy="36576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Mobile Dashboard &amp; Metrics</a:t>
            </a:r>
          </a:p>
        </p:txBody>
      </p:sp>
      <p:pic>
        <p:nvPicPr>
          <p:cNvPr id="6" name="Picture 5" descr="media_17893631344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54480"/>
            <a:ext cx="2514600" cy="5734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0" y="6172200"/>
            <a:ext cx="2514600" cy="36576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AI Mock Interview Setup</a:t>
            </a:r>
          </a:p>
        </p:txBody>
      </p:sp>
      <p:pic>
        <p:nvPicPr>
          <p:cNvPr id="8" name="Picture 7" descr="media_1789363134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2514600" cy="5734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6172200"/>
            <a:ext cx="2514600" cy="36576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6-Month Career Roadmap</a:t>
            </a:r>
          </a:p>
        </p:txBody>
      </p:sp>
      <p:pic>
        <p:nvPicPr>
          <p:cNvPr id="10" name="Picture 9" descr="media_17894031994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554480"/>
            <a:ext cx="2514600" cy="55977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23960" y="6172200"/>
            <a:ext cx="2514600" cy="36576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ATS Resume Hub &amp; Tailor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6. Windows Desktop Application Showcase (Desktop Screens)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Edge WebView2 Native Window Host with 1:1 Material 3 Navigation &amp; Embedded Reverse Proxy</a:t>
            </a:r>
          </a:p>
        </p:txBody>
      </p:sp>
      <p:pic>
        <p:nvPicPr>
          <p:cNvPr id="4" name="Picture 3" descr="media_17898929676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257800" cy="2952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52160"/>
            <a:ext cx="5257800" cy="45720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Windows Desktop Dashboard &amp; Top Navigation Bar</a:t>
            </a:r>
          </a:p>
        </p:txBody>
      </p:sp>
      <p:pic>
        <p:nvPicPr>
          <p:cNvPr id="6" name="Picture 5" descr="media_1789916458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257800" cy="2952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5852160"/>
            <a:ext cx="5257800" cy="457200"/>
          </a:xfrm>
          <a:prstGeom prst="rect">
            <a:avLst/>
          </a:prstGeom>
          <a:noFill/>
        </p:spPr>
        <p:txBody>
          <a:bodyPr wrap="none" tIns="0" l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Windows Authentication &amp; OTP Verification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7. Database Schema &amp; Backend Data Persistence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Single source of truth on PostgreSQL with zero mock bypasses across Android and Windows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👤 Users &amp; Auth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encrypted credentials (bcrypt), Brevo email OTP timestamps, verification states, streak counters, and target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🗺️ Roadmaps &amp; Milestones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generated curricula, total days (e.g. 180), active day index, progress %, completion timestamps, and phase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📝 Daily Quizzes &amp; Notes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daily 3-question quizzes, selected candidate answers, pass/fail status, and user markdown code notes per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546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📄 Resumes &amp; ATS Audits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extracted personal info, education, skills, projects, work experience, missing field audits, and tailored resume variations.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💼 Jobs &amp; Applications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job postings, required skills, semantic vector match scores, and application status stages (Saved $\rightarrow$ Offered).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754880"/>
            <a:ext cx="52578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🎙️ Interview Sessions &amp; Reports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Stores question sets, candidate answer transcripts, camera eye contact &amp; presence telemetry, and 4-D evaluator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4864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8. Project Summary &amp; Future Enhancements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Transforming technical recruitment with seamless multi-platform AI copiloting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5EC"/>
          </a:solidFill>
          <a:ln w="190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500" b="1">
                <a:solidFill>
                  <a:srgbClr val="D95500"/>
                </a:solidFill>
                <a:latin typeface="Segoe UI"/>
              </a:defRPr>
            </a:pPr>
            <a:r>
              <a:t>🏆 Key Accomplishments Delivered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1:1 Multi-Platform Parity: </a:t>
            </a:r>
            <a:r>
              <a:rPr b="0">
                <a:solidFill>
                  <a:srgbClr val="0F172A"/>
                </a:solidFill>
              </a:rPr>
              <a:t>Delivered complete feature, navigation, and visual parity across native Android APK and standalone Windows Desktop .exe.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Live AI Mock Interview Room: </a:t>
            </a:r>
            <a:r>
              <a:rPr b="0">
                <a:solidFill>
                  <a:srgbClr val="0F172A"/>
                </a:solidFill>
              </a:rPr>
              <a:t>Interactive video simulator with real-time face tracking, audio synthesis, speech-to-text dictation, and comprehensive model answers.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End-to-End ATS Pipeline: </a:t>
            </a:r>
            <a:r>
              <a:rPr b="0">
                <a:solidFill>
                  <a:srgbClr val="0F172A"/>
                </a:solidFill>
              </a:rPr>
              <a:t>Instant extraction, missing field audit, and 1-click tailoring with PDF export.</a:t>
            </a:r>
          </a:p>
          <a:p>
            <a:pPr>
              <a:spcBef>
                <a:spcPts val="1000"/>
              </a:spcBef>
              <a:defRPr sz="1100" b="1">
                <a:solidFill>
                  <a:srgbClr val="D95500"/>
                </a:solidFill>
                <a:latin typeface="Segoe UI"/>
              </a:defRPr>
            </a:pPr>
            <a:r>
              <a:t>✓ Enterprise-Grade Cloud Backend: </a:t>
            </a:r>
            <a:r>
              <a:rPr b="0">
                <a:solidFill>
                  <a:srgbClr val="0F172A"/>
                </a:solidFill>
              </a:rPr>
              <a:t>FastAPI + PostgreSQL with Brevo OTP transactional email delivery and JWT authentication.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🔮 Future Roadmap &amp; Enhancements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✦ Autonomous Job Application Agent: </a:t>
            </a:r>
            <a:r>
              <a:rPr b="0">
                <a:solidFill>
                  <a:srgbClr val="0F172A"/>
                </a:solidFill>
              </a:rPr>
              <a:t>Automated form filling and portfolio submission across major job portals with user approval gates.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✦ Multilingual Voice &amp; Accent Adaptation: </a:t>
            </a:r>
            <a:r>
              <a:rPr b="0">
                <a:solidFill>
                  <a:srgbClr val="0F172A"/>
                </a:solidFill>
              </a:rPr>
              <a:t>Expanded speech synthesis supporting international tech interview accents and regional languages.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✦ Live Coding Sandbox Integration: </a:t>
            </a:r>
            <a:r>
              <a:rPr b="0">
                <a:solidFill>
                  <a:srgbClr val="0F172A"/>
                </a:solidFill>
              </a:rPr>
              <a:t>Embedded Monaco / WebAssembly code editor with unit test execution during technical interview stages.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✦ Enterprise Recruiter Portal: </a:t>
            </a:r>
            <a:r>
              <a:rPr b="0">
                <a:solidFill>
                  <a:srgbClr val="0F172A"/>
                </a:solidFill>
              </a:rPr>
              <a:t>Dedicated portal for recruiters to review candidates' verified AI interview scorecards and roadmap credentials.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